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73152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</a:defRPr>
            </a:pPr>
            <a:r>
              <a:t>BRAINYBEAM INFO-TECH PVT. LTD.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3B82F6"/>
                </a:solidFill>
              </a:defRPr>
            </a:pPr>
            <a:r>
              <a:t>Bank Campaign Sense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291840"/>
            <a:ext cx="8534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</a:defRPr>
            </a:pPr>
            <a:r>
              <a:t>Predicting Term Deposit Subscriptions Using Machine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0" y="4114800"/>
            <a:ext cx="155448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4572000"/>
            <a:ext cx="8534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1F5F9"/>
                </a:solidFill>
              </a:defRPr>
            </a:pPr>
            <a:r>
              <a:t>Ayush Gajjar</a:t>
            </a:r>
            <a:br/>
            <a:r>
              <a:t>LJ University</a:t>
            </a:r>
            <a:br/>
            <a:r>
              <a:t>Domain: Data Science &amp; ML · May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</a:defRPr>
            </a:pPr>
            <a: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3B82F6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F1F5F9"/>
                </a:solidFill>
              </a:defRPr>
            </a:pPr>
            <a:r>
              <a:t>Banks spend millions on telemarketing campaigns — but most calls go to customers who won't subscribe.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4D399"/>
                </a:solidFill>
              </a:defRPr>
            </a:pPr>
            <a:r>
              <a:t>Our Goal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3464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</a:defRPr>
            </a:pPr>
            <a:r>
              <a:t>▸  Predict which customers will subscribe to a term deposit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</a:defRPr>
            </a:pPr>
            <a:r>
              <a:t>▸  Reduce wasted call-center resources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</a:defRPr>
            </a:pPr>
            <a:r>
              <a:t>▸  Increase campaign conversion rates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</a:defRPr>
            </a:pPr>
            <a:r>
              <a:t>▸  Provide actionable business insights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371600"/>
            <a:ext cx="347472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3200" lIns="203200" rIns="203200"/>
          <a:lstStyle/>
          <a:p>
            <a:pPr algn="ctr">
              <a:spcAft>
                <a:spcPts val="800"/>
              </a:spcAft>
              <a:defRPr sz="1600" b="1">
                <a:solidFill>
                  <a:srgbClr val="34D399"/>
                </a:solidFill>
              </a:defRPr>
            </a:pPr>
            <a:r>
              <a:t>11,162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Customer Records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2743200"/>
            <a:ext cx="347472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3200" lIns="203200" rIns="203200"/>
          <a:lstStyle/>
          <a:p>
            <a:pPr algn="ctr">
              <a:spcAft>
                <a:spcPts val="800"/>
              </a:spcAft>
              <a:defRPr sz="1600" b="1">
                <a:solidFill>
                  <a:srgbClr val="3B82F6"/>
                </a:solidFill>
              </a:defRPr>
            </a:pPr>
            <a:r>
              <a:t>17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Features Analyzed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4114800"/>
            <a:ext cx="347472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3200" lIns="203200" rIns="203200"/>
          <a:lstStyle/>
          <a:p>
            <a:pPr algn="ctr">
              <a:spcAft>
                <a:spcPts val="800"/>
              </a:spcAft>
              <a:defRPr sz="1600" b="1">
                <a:solidFill>
                  <a:srgbClr val="A78BFA"/>
                </a:solidFill>
              </a:defRPr>
            </a:pPr>
            <a:r>
              <a:t>8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ML Models Compared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Bank Campaign Sense · Ayush Gajjar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</a:defRPr>
            </a:pPr>
            <a: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3B82F6"/>
                </a:solidFill>
              </a:defRPr>
            </a:pPr>
            <a:r>
              <a:t>Dataset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94A3B8"/>
                </a:solidFill>
              </a:defRPr>
            </a:pPr>
            <a:r>
              <a:t>Portuguese banking institution's direct marketing campaign data.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2560320" cy="1828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3200" lIns="203200" rIns="203200"/>
          <a:lstStyle/>
          <a:p>
            <a:pPr algn="ctr">
              <a:spcAft>
                <a:spcPts val="800"/>
              </a:spcAft>
              <a:defRPr sz="1600" b="1">
                <a:solidFill>
                  <a:srgbClr val="3B82F6"/>
                </a:solidFill>
              </a:defRPr>
            </a:pPr>
            <a:r>
              <a:t>👤 Demographics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Age, Job, Marital Status, Education Level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2011680"/>
            <a:ext cx="2560320" cy="1828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3200" lIns="203200" rIns="203200"/>
          <a:lstStyle/>
          <a:p>
            <a:pPr algn="ctr">
              <a:spcAft>
                <a:spcPts val="800"/>
              </a:spcAft>
              <a:defRPr sz="1600" b="1">
                <a:solidFill>
                  <a:srgbClr val="34D399"/>
                </a:solidFill>
              </a:defRPr>
            </a:pPr>
            <a:r>
              <a:t>💰 Financial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Account Balance, Housing Loan, Personal Loan, Default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2011680"/>
            <a:ext cx="2560320" cy="1828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3200" lIns="203200" rIns="203200"/>
          <a:lstStyle/>
          <a:p>
            <a:pPr algn="ctr">
              <a:spcAft>
                <a:spcPts val="800"/>
              </a:spcAft>
              <a:defRPr sz="1600" b="1">
                <a:solidFill>
                  <a:srgbClr val="FB923C"/>
                </a:solidFill>
              </a:defRPr>
            </a:pPr>
            <a:r>
              <a:t>📞 Campaign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Contact Type, Duration, Day/Month, # of Contacts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509760" y="2011680"/>
            <a:ext cx="2560320" cy="1828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3200" lIns="203200" rIns="203200"/>
          <a:lstStyle/>
          <a:p>
            <a:pPr algn="ctr">
              <a:spcAft>
                <a:spcPts val="800"/>
              </a:spcAft>
              <a:defRPr sz="1600" b="1">
                <a:solidFill>
                  <a:srgbClr val="A78BFA"/>
                </a:solidFill>
              </a:defRPr>
            </a:pPr>
            <a:r>
              <a:t>🎯 Target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deposit — Did customer subscribe? (yes/no)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3891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</a:defRPr>
            </a:pPr>
            <a:r>
              <a:t>Key Features: age, job, marital, education, default, balance, housing, loan, contact, day, month, duration, campaign, pdays, previous, poutcome, deposit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Bank Campaign Sense · Ayush Gajjar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</a:defRPr>
            </a:pPr>
            <a: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3B82F6"/>
                </a:solidFill>
              </a:defRPr>
            </a:pPr>
            <a:r>
              <a:t>Methodology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246888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3200" lIns="203200" rIns="203200"/>
          <a:lstStyle/>
          <a:p>
            <a:pPr algn="ctr">
              <a:spcAft>
                <a:spcPts val="800"/>
              </a:spcAft>
              <a:defRPr sz="1600" b="1">
                <a:solidFill>
                  <a:srgbClr val="3B82F6"/>
                </a:solidFill>
              </a:defRPr>
            </a:pPr>
            <a:r>
              <a:t>1. Data Cleaning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Remove duplicates, handle unknowns, validate data types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566160" y="1463040"/>
            <a:ext cx="246888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3200" lIns="203200" rIns="203200"/>
          <a:lstStyle/>
          <a:p>
            <a:pPr algn="ctr">
              <a:spcAft>
                <a:spcPts val="800"/>
              </a:spcAft>
              <a:defRPr sz="1600" b="1">
                <a:solidFill>
                  <a:srgbClr val="34D399"/>
                </a:solidFill>
              </a:defRPr>
            </a:pPr>
            <a:r>
              <a:t>2. EDA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Distributions, correlations, target class analysis, visual insights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463040"/>
            <a:ext cx="246888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3200" lIns="203200" rIns="203200"/>
          <a:lstStyle/>
          <a:p>
            <a:pPr algn="ctr">
              <a:spcAft>
                <a:spcPts val="800"/>
              </a:spcAft>
              <a:defRPr sz="1600" b="1">
                <a:solidFill>
                  <a:srgbClr val="FB923C"/>
                </a:solidFill>
              </a:defRPr>
            </a:pPr>
            <a:r>
              <a:t>3. Preprocessing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One-hot encoding, StandardScaler, 80/20 stratified split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35440" y="1463040"/>
            <a:ext cx="246888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3200" lIns="203200" rIns="203200"/>
          <a:lstStyle/>
          <a:p>
            <a:pPr algn="ctr">
              <a:spcAft>
                <a:spcPts val="800"/>
              </a:spcAft>
              <a:defRPr sz="1600" b="1">
                <a:solidFill>
                  <a:srgbClr val="A78BFA"/>
                </a:solidFill>
              </a:defRPr>
            </a:pPr>
            <a:r>
              <a:t>4. Modeling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Train &amp; compare 8 classification algorithms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D399"/>
                </a:solidFill>
              </a:defRPr>
            </a:pPr>
            <a:r>
              <a:t>Tools &amp; Technologies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1F5F9"/>
                </a:solidFill>
              </a:defRPr>
            </a:pPr>
            <a:r>
              <a:t>Python · Pandas · NumPy · Scikit-learn · XGBoost · Matplotlib · Seaborn · Power BI · Jupyter Notebook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Bank Campaign Sense · Ayush Gajjar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</a:defRPr>
            </a:pPr>
            <a: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3B82F6"/>
                </a:solidFill>
              </a:defRPr>
            </a:pPr>
            <a:r>
              <a:t>Key EDA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</a:defRPr>
            </a:pPr>
            <a:r>
              <a:t>▸  Near-balanced target — ~47% yes vs ~53% no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</a:defRPr>
            </a:pPr>
            <a:r>
              <a:t>▸  Age: Bell-shaped distribution, majority 25–55 years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</a:defRPr>
            </a:pPr>
            <a:r>
              <a:t>▸  Balance: Right-skewed, most €0–€2,000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</a:defRPr>
            </a:pPr>
            <a:r>
              <a:t>▸  Duration: Strongest correlation with subscription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</a:defRPr>
            </a:pPr>
            <a:r>
              <a:t>▸  Job Type: Management &amp; retired convert most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</a:defRPr>
            </a:pPr>
            <a:r>
              <a:t>▸  Education: Tertiary-educated respond better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0" y="1371600"/>
            <a:ext cx="4572000" cy="1645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3200" lIns="203200" rIns="203200"/>
          <a:lstStyle/>
          <a:p>
            <a:pPr algn="ctr">
              <a:spcAft>
                <a:spcPts val="800"/>
              </a:spcAft>
              <a:defRPr sz="1600" b="1">
                <a:solidFill>
                  <a:srgbClr val="34D399"/>
                </a:solidFill>
              </a:defRPr>
            </a:pPr>
            <a:r>
              <a:t>🔑 Critical Finding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Subscribers had significantly longer average call durations — engagement level is a key predictor.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0" y="3474720"/>
            <a:ext cx="4572000" cy="1645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3200" lIns="203200" rIns="203200"/>
          <a:lstStyle/>
          <a:p>
            <a:pPr algn="ctr">
              <a:spcAft>
                <a:spcPts val="800"/>
              </a:spcAft>
              <a:defRPr sz="1600" b="1">
                <a:solidFill>
                  <a:srgbClr val="FB923C"/>
                </a:solidFill>
              </a:defRPr>
            </a:pPr>
            <a:r>
              <a:t>📊 Correlation Insight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'duration' has the highest positive correlation with the target variable among all features.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Bank Campaign Sense · Ayush Gajjar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</a:defRPr>
            </a:pPr>
            <a: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3B82F6"/>
                </a:solidFill>
              </a:defRPr>
            </a:pPr>
            <a:r>
              <a:t>Models Trained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B82F6"/>
                </a:solidFill>
              </a:defRPr>
            </a:pPr>
            <a:r>
              <a:t>#    Algorithm                   Type                     Key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1F5F9"/>
                </a:solidFill>
              </a:defRPr>
            </a:pPr>
            <a:r>
              <a:t>1    Logistic Regression         Linear                   max_iter=1000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4028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1F5F9"/>
                </a:solidFill>
              </a:defRPr>
            </a:pPr>
            <a:r>
              <a:t>2    Decision Tree               Tree-Based               max_depth=6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1F5F9"/>
                </a:solidFill>
              </a:defRPr>
            </a:pPr>
            <a:r>
              <a:t>3    Random Forest               Ensemble (Bagging)       100 estimators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6324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1F5F9"/>
                </a:solidFill>
              </a:defRPr>
            </a:pPr>
            <a:r>
              <a:t>4    K-Nearest Neighbors         Instance-Based           k=7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7472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1F5F9"/>
                </a:solidFill>
              </a:defRPr>
            </a:pPr>
            <a:r>
              <a:t>5    Gaussian Naive Bayes        Probabilistic            Default priors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8620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1F5F9"/>
                </a:solidFill>
              </a:defRPr>
            </a:pPr>
            <a:r>
              <a:t>6    AdaBoost                    Ensemble (Boosting)      100 estimators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29768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1F5F9"/>
                </a:solidFill>
              </a:defRPr>
            </a:pPr>
            <a:r>
              <a:t>7    Gradient Boosting           Ensemble (Boosting)      100 estimators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70916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1F5F9"/>
                </a:solidFill>
              </a:defRPr>
            </a:pPr>
            <a:r>
              <a:t>8    XGBoost                     Ensemble (Boosting)      100 estimators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Bank Campaign Sense · Ayush Gajjar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</a:defRPr>
            </a:pPr>
            <a: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3B82F6"/>
                </a:solidFill>
              </a:defRPr>
            </a:pPr>
            <a:r>
              <a:t>Comparative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</a:defRPr>
            </a:pPr>
            <a:r>
              <a:t>Models ranked by F1-Score — balancing precision and recall.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B82F6"/>
                </a:solidFill>
              </a:defRPr>
            </a:pPr>
            <a:r>
              <a:t>Rank    Model                    Accuracy    Precision   Recall      F1-Score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515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4D399"/>
                </a:solidFill>
              </a:defRPr>
            </a:pPr>
            <a:r>
              <a:t>🥇       Gradient Boosting        ~82%        ~81%        ~81%        ~81%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87168"/>
            <a:ext cx="10515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1F5F9"/>
                </a:solidFill>
              </a:defRPr>
            </a:pPr>
            <a:r>
              <a:t>🥈       XGBoost                  ~81%        ~80%        ~81%        ~80%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71215"/>
            <a:ext cx="10515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1F5F9"/>
                </a:solidFill>
              </a:defRPr>
            </a:pPr>
            <a:r>
              <a:t>🥉       Random Forest            ~80%        ~80%        ~79%        ~79%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55263"/>
            <a:ext cx="10515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1F5F9"/>
                </a:solidFill>
              </a:defRPr>
            </a:pPr>
            <a:r>
              <a:t>4       AdaBoost                 ~79%        ~79%        ~78%        ~78%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39311"/>
            <a:ext cx="10515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1F5F9"/>
                </a:solidFill>
              </a:defRPr>
            </a:pPr>
            <a:r>
              <a:t>5       Logistic Regression      ~78%        ~78%        ~77%        ~77%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23359"/>
            <a:ext cx="10515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1F5F9"/>
                </a:solidFill>
              </a:defRPr>
            </a:pPr>
            <a:r>
              <a:t>6       KNN                      ~77%        ~77%        ~76%        ~76%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407407"/>
            <a:ext cx="10515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1F5F9"/>
                </a:solidFill>
              </a:defRPr>
            </a:pPr>
            <a:r>
              <a:t>7       Decision Tree            ~76%        ~76%        ~75%        ~75%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791455"/>
            <a:ext cx="10515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1F5F9"/>
                </a:solidFill>
              </a:defRPr>
            </a:pPr>
            <a:r>
              <a:t>8       Naive Bayes              ~74%        ~75%        ~73%        ~73%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943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Approximate values — run notebook for exact metrics.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Bank Campaign Sense · Ayush Gajjar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</a:defRPr>
            </a:pPr>
            <a: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3B82F6"/>
                </a:solidFill>
              </a:defRPr>
            </a:pPr>
            <a:r>
              <a:t>Top Predictors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</a:defRPr>
            </a:pPr>
            <a:r>
              <a:t>Random Forest feature importance — factors that drive subscription decisions.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1F5F9"/>
                </a:solidFill>
              </a:defRPr>
            </a:pPr>
            <a:r>
              <a:t>▸  🥇 duration — Call length is #1 predictor</a:t>
            </a:r>
          </a:p>
          <a:p>
            <a:pPr>
              <a:spcAft>
                <a:spcPts val="800"/>
              </a:spcAft>
              <a:defRPr sz="1600">
                <a:solidFill>
                  <a:srgbClr val="F1F5F9"/>
                </a:solidFill>
              </a:defRPr>
            </a:pPr>
            <a:r>
              <a:t>▸  🥈 balance — Wealthier customers convert more</a:t>
            </a:r>
          </a:p>
          <a:p>
            <a:pPr>
              <a:spcAft>
                <a:spcPts val="800"/>
              </a:spcAft>
              <a:defRPr sz="1600">
                <a:solidFill>
                  <a:srgbClr val="F1F5F9"/>
                </a:solidFill>
              </a:defRPr>
            </a:pPr>
            <a:r>
              <a:t>▸  🥉 age — Older demographics more receptive</a:t>
            </a:r>
          </a:p>
          <a:p>
            <a:pPr>
              <a:spcAft>
                <a:spcPts val="800"/>
              </a:spcAft>
              <a:defRPr sz="1600">
                <a:solidFill>
                  <a:srgbClr val="F1F5F9"/>
                </a:solidFill>
              </a:defRPr>
            </a:pPr>
            <a:r>
              <a:t>▸  4. day — Timing of contact matters</a:t>
            </a:r>
          </a:p>
          <a:p>
            <a:pPr>
              <a:spcAft>
                <a:spcPts val="800"/>
              </a:spcAft>
              <a:defRPr sz="1600">
                <a:solidFill>
                  <a:srgbClr val="F1F5F9"/>
                </a:solidFill>
              </a:defRPr>
            </a:pPr>
            <a:r>
              <a:t>▸  5. campaign — Contact frequency effect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7373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1F5F9"/>
                </a:solidFill>
              </a:defRPr>
            </a:pPr>
            <a:r>
              <a:t>▸  6. pdays — Recency of prior contact</a:t>
            </a:r>
          </a:p>
          <a:p>
            <a:pPr>
              <a:spcAft>
                <a:spcPts val="800"/>
              </a:spcAft>
              <a:defRPr sz="1600">
                <a:solidFill>
                  <a:srgbClr val="F1F5F9"/>
                </a:solidFill>
              </a:defRPr>
            </a:pPr>
            <a:r>
              <a:t>▸  7. previous — Prior contact volume</a:t>
            </a:r>
          </a:p>
          <a:p>
            <a:pPr>
              <a:spcAft>
                <a:spcPts val="800"/>
              </a:spcAft>
              <a:defRPr sz="1600">
                <a:solidFill>
                  <a:srgbClr val="F1F5F9"/>
                </a:solidFill>
              </a:defRPr>
            </a:pPr>
            <a:r>
              <a:t>▸  8. poutcome_success — Past wins predict future</a:t>
            </a:r>
          </a:p>
          <a:p>
            <a:pPr>
              <a:spcAft>
                <a:spcPts val="800"/>
              </a:spcAft>
              <a:defRPr sz="1600">
                <a:solidFill>
                  <a:srgbClr val="F1F5F9"/>
                </a:solidFill>
              </a:defRPr>
            </a:pPr>
            <a:r>
              <a:t>▸  9. housing_yes — Loan status indicator</a:t>
            </a:r>
          </a:p>
          <a:p>
            <a:pPr>
              <a:spcAft>
                <a:spcPts val="800"/>
              </a:spcAft>
              <a:defRPr sz="1600">
                <a:solidFill>
                  <a:srgbClr val="F1F5F9"/>
                </a:solidFill>
              </a:defRPr>
            </a:pPr>
            <a:r>
              <a:t>▸  10. job_management — Job type signal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Bank Campaign Sense · Ayush Gajjar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</a:defRPr>
            </a:pPr>
            <a: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3B82F6"/>
                </a:solidFill>
              </a:defRPr>
            </a:pPr>
            <a:r>
              <a:t>Business Recommendations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29184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3200" lIns="203200" rIns="203200"/>
          <a:lstStyle/>
          <a:p>
            <a:pPr algn="ctr">
              <a:spcAft>
                <a:spcPts val="800"/>
              </a:spcAft>
              <a:defRPr sz="1600" b="1">
                <a:solidFill>
                  <a:srgbClr val="34D399"/>
                </a:solidFill>
              </a:defRPr>
            </a:pPr>
            <a:r>
              <a:t>🎯 Target High-Value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Prioritise customers with higher account balances — significantly more likely to convert.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463040"/>
            <a:ext cx="329184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3200" lIns="203200" rIns="203200"/>
          <a:lstStyle/>
          <a:p>
            <a:pPr algn="ctr">
              <a:spcAft>
                <a:spcPts val="800"/>
              </a:spcAft>
              <a:defRPr sz="1600" b="1">
                <a:solidFill>
                  <a:srgbClr val="3B82F6"/>
                </a:solidFill>
              </a:defRPr>
            </a:pPr>
            <a:r>
              <a:t>🔄 Re-Target Past Successes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Customers with prior positive outcomes show dramatically higher conversion rates.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463040"/>
            <a:ext cx="329184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3200" lIns="203200" rIns="203200"/>
          <a:lstStyle/>
          <a:p>
            <a:pPr algn="ctr">
              <a:spcAft>
                <a:spcPts val="800"/>
              </a:spcAft>
              <a:defRPr sz="1600" b="1">
                <a:solidFill>
                  <a:srgbClr val="A78BFA"/>
                </a:solidFill>
              </a:defRPr>
            </a:pPr>
            <a:r>
              <a:t>⏱️ Optimise Call Strategy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Longer, quality conversations drive subscriptions. Train agents to engage.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206240"/>
            <a:ext cx="1060704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3200" lIns="203200" rIns="203200"/>
          <a:lstStyle/>
          <a:p>
            <a:pPr algn="ctr">
              <a:spcAft>
                <a:spcPts val="800"/>
              </a:spcAft>
              <a:defRPr sz="1600" b="1">
                <a:solidFill>
                  <a:srgbClr val="34D399"/>
                </a:solidFill>
              </a:defRPr>
            </a:pPr>
            <a:r>
              <a:t>📈 Projected Impact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ML-driven lead scoring can reduce call-center costs by up to 40% while improving campaign conversion rates through targeted outreach.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Bank Campaign Sense · Ayush Gajjar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</a:defRPr>
            </a:pPr>
            <a: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82880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34D399"/>
                </a:solidFill>
              </a:defRPr>
            </a:pPr>
            <a: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0" y="3200400"/>
            <a:ext cx="155448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3657600"/>
            <a:ext cx="8534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</a:defRPr>
            </a:pPr>
            <a:r>
              <a:t>Bank Campaign Sense — Predicting Term Deposit Subscriptions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389120"/>
            <a:ext cx="8534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F1F5F9"/>
                </a:solidFill>
              </a:defRPr>
            </a:pPr>
            <a:r>
              <a:t>Ayush Gajjar</a:t>
            </a:r>
            <a:br/>
            <a:r>
              <a:t>LJ University · Brainybeam Info-Tech Pvt. Ltd.</a:t>
            </a:r>
            <a:br/>
            <a:r>
              <a:t>May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</a:defRPr>
            </a:pPr>
            <a: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